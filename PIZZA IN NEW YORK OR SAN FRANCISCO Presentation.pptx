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3" r:id="rId6"/>
    <p:sldId id="264" r:id="rId7"/>
    <p:sldId id="265" r:id="rId8"/>
    <p:sldId id="267" r:id="rId9"/>
    <p:sldId id="268" r:id="rId10"/>
    <p:sldId id="266" r:id="rId11"/>
    <p:sldId id="261" r:id="rId12"/>
    <p:sldId id="262"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550" autoAdjust="0"/>
    <p:restoredTop sz="94660"/>
  </p:normalViewPr>
  <p:slideViewPr>
    <p:cSldViewPr snapToGrid="0">
      <p:cViewPr varScale="1">
        <p:scale>
          <a:sx n="59" d="100"/>
          <a:sy n="59" d="100"/>
        </p:scale>
        <p:origin x="60" y="123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7/7/2020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7/7/2020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7/7/2020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7/7/2020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7/7/2020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7/7/2020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7/7/2020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7/7/2020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7/7/2020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7/7/2020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7/7/2020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7/7/2020</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hyperlink" Target="https://www.tasteatlas.com/most-popular-food-in-the-world"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27413" y="470920"/>
            <a:ext cx="9144000" cy="2387600"/>
          </a:xfrm>
        </p:spPr>
        <p:txBody>
          <a:bodyPr>
            <a:normAutofit fontScale="90000"/>
          </a:bodyPr>
          <a:lstStyle/>
          <a:p>
            <a:r>
              <a:rPr lang="en-US" b="1" dirty="0"/>
              <a:t>PIZZA IN NEW YORK OR SAN FRANCISCO?</a:t>
            </a:r>
            <a:r>
              <a:rPr lang="en-US" dirty="0"/>
              <a:t/>
            </a:r>
            <a:br>
              <a:rPr lang="en-US" dirty="0"/>
            </a:br>
            <a:endParaRPr lang="en-US" dirty="0"/>
          </a:p>
        </p:txBody>
      </p:sp>
      <p:pic>
        <p:nvPicPr>
          <p:cNvPr id="4" name="Picture 3"/>
          <p:cNvPicPr/>
          <p:nvPr/>
        </p:nvPicPr>
        <p:blipFill>
          <a:blip r:embed="rId2">
            <a:extLst>
              <a:ext uri="{28A0092B-C50C-407E-A947-70E740481C1C}">
                <a14:useLocalDpi xmlns:a14="http://schemas.microsoft.com/office/drawing/2010/main" val="0"/>
              </a:ext>
            </a:extLst>
          </a:blip>
          <a:stretch>
            <a:fillRect/>
          </a:stretch>
        </p:blipFill>
        <p:spPr>
          <a:xfrm>
            <a:off x="1932213" y="2025762"/>
            <a:ext cx="8534399" cy="3999480"/>
          </a:xfrm>
          <a:prstGeom prst="rect">
            <a:avLst/>
          </a:prstGeom>
        </p:spPr>
      </p:pic>
      <p:sp>
        <p:nvSpPr>
          <p:cNvPr id="5" name="Rectangle 4"/>
          <p:cNvSpPr/>
          <p:nvPr/>
        </p:nvSpPr>
        <p:spPr>
          <a:xfrm>
            <a:off x="4494361" y="6025242"/>
            <a:ext cx="3410101" cy="584775"/>
          </a:xfrm>
          <a:prstGeom prst="rect">
            <a:avLst/>
          </a:prstGeom>
        </p:spPr>
        <p:txBody>
          <a:bodyPr wrap="none">
            <a:spAutoFit/>
          </a:bodyPr>
          <a:lstStyle/>
          <a:p>
            <a:r>
              <a:rPr lang="en-US" sz="3200" dirty="0"/>
              <a:t>By George C </a:t>
            </a:r>
            <a:r>
              <a:rPr lang="en-US" sz="3200" dirty="0" err="1" smtClean="0"/>
              <a:t>Kabwe</a:t>
            </a:r>
            <a:endParaRPr lang="en-US" sz="3200" dirty="0"/>
          </a:p>
        </p:txBody>
      </p:sp>
    </p:spTree>
    <p:extLst>
      <p:ext uri="{BB962C8B-B14F-4D97-AF65-F5344CB8AC3E}">
        <p14:creationId xmlns:p14="http://schemas.microsoft.com/office/powerpoint/2010/main" val="209743808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6187" y="157880"/>
            <a:ext cx="10515600" cy="1325563"/>
          </a:xfrm>
        </p:spPr>
        <p:txBody>
          <a:bodyPr>
            <a:normAutofit/>
          </a:bodyPr>
          <a:lstStyle/>
          <a:p>
            <a:r>
              <a:rPr lang="en-US" sz="5400" b="1" u="sng" dirty="0">
                <a:latin typeface="Algerian" panose="04020705040A02060702" pitchFamily="82" charset="0"/>
              </a:rPr>
              <a:t>Introduction</a:t>
            </a:r>
          </a:p>
        </p:txBody>
      </p:sp>
      <p:sp>
        <p:nvSpPr>
          <p:cNvPr id="3" name="Content Placeholder 2"/>
          <p:cNvSpPr>
            <a:spLocks noGrp="1"/>
          </p:cNvSpPr>
          <p:nvPr>
            <p:ph idx="1"/>
          </p:nvPr>
        </p:nvSpPr>
        <p:spPr>
          <a:xfrm>
            <a:off x="506187" y="1404257"/>
            <a:ext cx="11168742" cy="5241472"/>
          </a:xfrm>
        </p:spPr>
        <p:txBody>
          <a:bodyPr>
            <a:normAutofit fontScale="62500" lnSpcReduction="20000"/>
          </a:bodyPr>
          <a:lstStyle/>
          <a:p>
            <a:r>
              <a:rPr lang="en-US" sz="5100" dirty="0"/>
              <a:t>We all love pizza! Right? </a:t>
            </a:r>
            <a:endParaRPr lang="en-US" sz="5100" dirty="0" smtClean="0"/>
          </a:p>
          <a:p>
            <a:r>
              <a:rPr lang="en-US" sz="5100" dirty="0" smtClean="0"/>
              <a:t>Research </a:t>
            </a:r>
            <a:r>
              <a:rPr lang="en-US" sz="5100" dirty="0"/>
              <a:t>has shown that pizza is one of the most popular foods in the world as ranked by </a:t>
            </a:r>
            <a:r>
              <a:rPr lang="en-US" sz="5100" u="sng" dirty="0">
                <a:hlinkClick r:id="rId2"/>
              </a:rPr>
              <a:t>Taste atlas</a:t>
            </a:r>
            <a:r>
              <a:rPr lang="en-US" sz="5100" dirty="0"/>
              <a:t> and other researchers</a:t>
            </a:r>
            <a:r>
              <a:rPr lang="en-US" sz="5100" dirty="0" smtClean="0"/>
              <a:t>.</a:t>
            </a:r>
          </a:p>
          <a:p>
            <a:r>
              <a:rPr lang="en-US" sz="5100" dirty="0"/>
              <a:t>This project focuses on comparing pizza places in New York to San Francisco. </a:t>
            </a:r>
            <a:endParaRPr lang="en-US" sz="5100" dirty="0" smtClean="0"/>
          </a:p>
          <a:p>
            <a:r>
              <a:rPr lang="en-US" sz="5100" dirty="0" smtClean="0"/>
              <a:t>Imagine </a:t>
            </a:r>
            <a:r>
              <a:rPr lang="en-US" sz="5100" dirty="0"/>
              <a:t>your choice of which city to visit depends on which city has the best pizza. The decision is to choose a place with a high density of Pizza places as most of people love to change places where they eat pizza from until they find their best and favorite place. To solve this problem, an analysis of the Pizza stores’ locations in New York and San Francisco will be conducted to find the best place for anyone who loves changing pizza places and anyone who wants to find the best place from . </a:t>
            </a:r>
          </a:p>
          <a:p>
            <a:endParaRPr lang="en-US" sz="3600" dirty="0"/>
          </a:p>
          <a:p>
            <a:pPr marL="0" indent="0">
              <a:buNone/>
            </a:pPr>
            <a:endParaRPr lang="en-US" sz="3600"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69137" y="252032"/>
            <a:ext cx="1920240" cy="1438656"/>
          </a:xfrm>
          <a:prstGeom prst="rect">
            <a:avLst/>
          </a:prstGeom>
        </p:spPr>
      </p:pic>
    </p:spTree>
    <p:extLst>
      <p:ext uri="{BB962C8B-B14F-4D97-AF65-F5344CB8AC3E}">
        <p14:creationId xmlns:p14="http://schemas.microsoft.com/office/powerpoint/2010/main" val="368013636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6187" y="157880"/>
            <a:ext cx="10515600" cy="1325563"/>
          </a:xfrm>
        </p:spPr>
        <p:txBody>
          <a:bodyPr>
            <a:normAutofit/>
          </a:bodyPr>
          <a:lstStyle/>
          <a:p>
            <a:r>
              <a:rPr lang="en-US" sz="5400" b="1" u="sng" dirty="0">
                <a:latin typeface="Algerian" panose="04020705040A02060702" pitchFamily="82" charset="0"/>
              </a:rPr>
              <a:t>Data section</a:t>
            </a:r>
            <a:endParaRPr lang="en-US" sz="5400" b="1" u="sng" dirty="0">
              <a:latin typeface="Algerian" panose="04020705040A02060702" pitchFamily="82" charset="0"/>
            </a:endParaRPr>
          </a:p>
        </p:txBody>
      </p:sp>
      <p:sp>
        <p:nvSpPr>
          <p:cNvPr id="3" name="Content Placeholder 2"/>
          <p:cNvSpPr>
            <a:spLocks noGrp="1"/>
          </p:cNvSpPr>
          <p:nvPr>
            <p:ph idx="1"/>
          </p:nvPr>
        </p:nvSpPr>
        <p:spPr>
          <a:xfrm>
            <a:off x="506187" y="1404257"/>
            <a:ext cx="11168742" cy="5241472"/>
          </a:xfrm>
        </p:spPr>
        <p:txBody>
          <a:bodyPr>
            <a:noAutofit/>
          </a:bodyPr>
          <a:lstStyle/>
          <a:p>
            <a:r>
              <a:rPr lang="en-US" sz="3400" dirty="0"/>
              <a:t>The </a:t>
            </a:r>
            <a:r>
              <a:rPr lang="en-US" sz="3400" dirty="0" err="1"/>
              <a:t>FourSquare</a:t>
            </a:r>
            <a:r>
              <a:rPr lang="en-US" sz="3400" dirty="0"/>
              <a:t> API </a:t>
            </a:r>
            <a:r>
              <a:rPr lang="en-US" sz="3400" dirty="0" smtClean="0"/>
              <a:t>was used </a:t>
            </a:r>
            <a:r>
              <a:rPr lang="en-US" sz="3400" dirty="0"/>
              <a:t>to collect data about locations of Pizza stores in New York, NY and San Francisco, CA. These are two of the most populated US cities and they should contain some of the best Pizza places in the US.</a:t>
            </a:r>
          </a:p>
          <a:p>
            <a:r>
              <a:rPr lang="en-US" sz="3400" dirty="0"/>
              <a:t>The data obtained from </a:t>
            </a:r>
            <a:r>
              <a:rPr lang="en-US" sz="3400" dirty="0" err="1"/>
              <a:t>FourSquare</a:t>
            </a:r>
            <a:r>
              <a:rPr lang="en-US" sz="3400" dirty="0"/>
              <a:t> </a:t>
            </a:r>
            <a:r>
              <a:rPr lang="en-US" sz="3400" dirty="0" smtClean="0"/>
              <a:t>had the </a:t>
            </a:r>
            <a:r>
              <a:rPr lang="en-US" sz="3400" dirty="0"/>
              <a:t>following columns:</a:t>
            </a:r>
          </a:p>
          <a:p>
            <a:pPr marL="1079500" lvl="0" indent="-571500">
              <a:buFont typeface="Wingdings" panose="05000000000000000000" pitchFamily="2" charset="2"/>
              <a:buChar char="ü"/>
            </a:pPr>
            <a:r>
              <a:rPr lang="en-US" sz="3400" dirty="0"/>
              <a:t>Name of the pizza place </a:t>
            </a:r>
          </a:p>
          <a:p>
            <a:pPr marL="1079500" lvl="0" indent="-571500">
              <a:buFont typeface="Wingdings" panose="05000000000000000000" pitchFamily="2" charset="2"/>
              <a:buChar char="ü"/>
            </a:pPr>
            <a:r>
              <a:rPr lang="en-US" sz="3400" dirty="0"/>
              <a:t>The Address  of the place for people to quickly locate it</a:t>
            </a:r>
          </a:p>
          <a:p>
            <a:pPr marL="1079500" lvl="0" indent="-571500">
              <a:buFont typeface="Wingdings" panose="05000000000000000000" pitchFamily="2" charset="2"/>
              <a:buChar char="ü"/>
            </a:pPr>
            <a:r>
              <a:rPr lang="en-US" sz="3400" dirty="0"/>
              <a:t>The Latitude and Longitude which </a:t>
            </a:r>
            <a:r>
              <a:rPr lang="en-US" sz="3400" dirty="0" smtClean="0"/>
              <a:t>was used </a:t>
            </a:r>
            <a:r>
              <a:rPr lang="en-US" sz="3400" dirty="0"/>
              <a:t>for mapping the places</a:t>
            </a:r>
            <a:r>
              <a:rPr lang="en-US" sz="3400" dirty="0" smtClean="0"/>
              <a:t>.</a:t>
            </a:r>
            <a:endParaRPr lang="en-US" sz="3400" dirty="0"/>
          </a:p>
          <a:p>
            <a:pPr marL="0" indent="0">
              <a:buNone/>
            </a:pPr>
            <a:endParaRPr lang="en-US" sz="34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35985" y="252032"/>
            <a:ext cx="1553391" cy="1163810"/>
          </a:xfrm>
          <a:prstGeom prst="rect">
            <a:avLst/>
          </a:prstGeom>
        </p:spPr>
      </p:pic>
    </p:spTree>
    <p:extLst>
      <p:ext uri="{BB962C8B-B14F-4D97-AF65-F5344CB8AC3E}">
        <p14:creationId xmlns:p14="http://schemas.microsoft.com/office/powerpoint/2010/main" val="82144555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6187" y="157880"/>
            <a:ext cx="10515600" cy="1325563"/>
          </a:xfrm>
        </p:spPr>
        <p:txBody>
          <a:bodyPr>
            <a:normAutofit/>
          </a:bodyPr>
          <a:lstStyle/>
          <a:p>
            <a:r>
              <a:rPr lang="en-US" sz="5400" b="1" u="sng" dirty="0">
                <a:latin typeface="Algerian" panose="04020705040A02060702" pitchFamily="82" charset="0"/>
              </a:rPr>
              <a:t>Methodology</a:t>
            </a:r>
            <a:endParaRPr lang="en-US" sz="5400" b="1" u="sng" dirty="0">
              <a:latin typeface="Algerian" panose="04020705040A02060702" pitchFamily="82" charset="0"/>
            </a:endParaRPr>
          </a:p>
        </p:txBody>
      </p:sp>
      <p:sp>
        <p:nvSpPr>
          <p:cNvPr id="3" name="Content Placeholder 2"/>
          <p:cNvSpPr>
            <a:spLocks noGrp="1"/>
          </p:cNvSpPr>
          <p:nvPr>
            <p:ph idx="1"/>
          </p:nvPr>
        </p:nvSpPr>
        <p:spPr>
          <a:xfrm>
            <a:off x="506187" y="1404257"/>
            <a:ext cx="11168742" cy="5241472"/>
          </a:xfrm>
        </p:spPr>
        <p:txBody>
          <a:bodyPr>
            <a:noAutofit/>
          </a:bodyPr>
          <a:lstStyle/>
          <a:p>
            <a:r>
              <a:rPr lang="en-US" sz="3200" dirty="0"/>
              <a:t>The target </a:t>
            </a:r>
            <a:r>
              <a:rPr lang="en-US" sz="3200" dirty="0" smtClean="0"/>
              <a:t>was to </a:t>
            </a:r>
            <a:r>
              <a:rPr lang="en-US" sz="3200" dirty="0"/>
              <a:t>asses which city would have the highest Pizza store density. The Four Square API through the </a:t>
            </a:r>
            <a:r>
              <a:rPr lang="en-US" sz="3200" dirty="0" smtClean="0"/>
              <a:t>venues </a:t>
            </a:r>
            <a:r>
              <a:rPr lang="en-US" sz="3200" dirty="0"/>
              <a:t>channel </a:t>
            </a:r>
            <a:r>
              <a:rPr lang="en-US" sz="3200" dirty="0" smtClean="0"/>
              <a:t>and Pizza </a:t>
            </a:r>
            <a:r>
              <a:rPr lang="en-US" sz="3200" dirty="0" err="1" smtClean="0"/>
              <a:t>CategoryID</a:t>
            </a:r>
            <a:r>
              <a:rPr lang="en-US" sz="3200" dirty="0" smtClean="0"/>
              <a:t> was utilized </a:t>
            </a:r>
            <a:r>
              <a:rPr lang="en-US" sz="3200" dirty="0"/>
              <a:t>together with the near query to get venues in the cities. </a:t>
            </a:r>
            <a:endParaRPr lang="en-US" sz="3200" dirty="0" smtClean="0"/>
          </a:p>
          <a:p>
            <a:r>
              <a:rPr lang="en-US" sz="3200" dirty="0" smtClean="0"/>
              <a:t>The name and coordinate data was then plotted on the map for visualization.</a:t>
            </a:r>
          </a:p>
          <a:p>
            <a:r>
              <a:rPr lang="en-US" sz="3200" dirty="0" smtClean="0"/>
              <a:t>Next</a:t>
            </a:r>
            <a:r>
              <a:rPr lang="en-US" sz="3200" dirty="0"/>
              <a:t>, to get an indicator of the density of Pizza Places, the center coordinate of the venues </a:t>
            </a:r>
            <a:r>
              <a:rPr lang="en-US" sz="3200" dirty="0" smtClean="0"/>
              <a:t>was calculated </a:t>
            </a:r>
            <a:r>
              <a:rPr lang="en-US" sz="3200" dirty="0"/>
              <a:t>to get the mean longitude and latitude values. </a:t>
            </a:r>
            <a:endParaRPr lang="en-US" sz="3200" dirty="0" smtClean="0"/>
          </a:p>
          <a:p>
            <a:r>
              <a:rPr lang="en-US" sz="3200" dirty="0" smtClean="0"/>
              <a:t>Then </a:t>
            </a:r>
            <a:r>
              <a:rPr lang="en-US" sz="3200" dirty="0"/>
              <a:t>the mean of the Euclidean distance from each venue to the mean coordinates </a:t>
            </a:r>
            <a:r>
              <a:rPr lang="en-US" sz="3200" dirty="0" smtClean="0"/>
              <a:t>was also calculated as an indicator</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35985" y="252032"/>
            <a:ext cx="1553391" cy="1163810"/>
          </a:xfrm>
          <a:prstGeom prst="rect">
            <a:avLst/>
          </a:prstGeom>
        </p:spPr>
      </p:pic>
    </p:spTree>
    <p:extLst>
      <p:ext uri="{BB962C8B-B14F-4D97-AF65-F5344CB8AC3E}">
        <p14:creationId xmlns:p14="http://schemas.microsoft.com/office/powerpoint/2010/main" val="218217965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6187" y="157880"/>
            <a:ext cx="10515600" cy="1325563"/>
          </a:xfrm>
        </p:spPr>
        <p:txBody>
          <a:bodyPr>
            <a:normAutofit/>
          </a:bodyPr>
          <a:lstStyle/>
          <a:p>
            <a:r>
              <a:rPr lang="en-US" sz="5400" b="1" u="sng" dirty="0" smtClean="0">
                <a:latin typeface="Algerian" panose="04020705040A02060702" pitchFamily="82" charset="0"/>
              </a:rPr>
              <a:t>New York pizza places</a:t>
            </a:r>
            <a:endParaRPr lang="en-US" sz="5400" b="1" u="sng" dirty="0">
              <a:latin typeface="Algerian" panose="04020705040A02060702" pitchFamily="82" charset="0"/>
            </a:endParaRPr>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23496" y="1404938"/>
            <a:ext cx="8733895" cy="5240337"/>
          </a:xfr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35985" y="252032"/>
            <a:ext cx="1553391" cy="1163810"/>
          </a:xfrm>
          <a:prstGeom prst="rect">
            <a:avLst/>
          </a:prstGeom>
        </p:spPr>
      </p:pic>
    </p:spTree>
    <p:extLst>
      <p:ext uri="{BB962C8B-B14F-4D97-AF65-F5344CB8AC3E}">
        <p14:creationId xmlns:p14="http://schemas.microsoft.com/office/powerpoint/2010/main" val="74988088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6187" y="157880"/>
            <a:ext cx="10515600" cy="1325563"/>
          </a:xfrm>
        </p:spPr>
        <p:txBody>
          <a:bodyPr>
            <a:normAutofit/>
          </a:bodyPr>
          <a:lstStyle/>
          <a:p>
            <a:r>
              <a:rPr lang="en-US" sz="5400" b="1" u="sng" dirty="0" smtClean="0">
                <a:latin typeface="Algerian" panose="04020705040A02060702" pitchFamily="82" charset="0"/>
              </a:rPr>
              <a:t>San Francisco pizza places</a:t>
            </a:r>
            <a:endParaRPr lang="en-US" sz="5400" b="1" u="sng" dirty="0">
              <a:latin typeface="Algerian" panose="04020705040A02060702" pitchFamily="82" charset="0"/>
            </a:endParaRPr>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40934" y="1273792"/>
            <a:ext cx="8986556" cy="5381008"/>
          </a:xfrm>
        </p:spPr>
      </p:pic>
    </p:spTree>
    <p:extLst>
      <p:ext uri="{BB962C8B-B14F-4D97-AF65-F5344CB8AC3E}">
        <p14:creationId xmlns:p14="http://schemas.microsoft.com/office/powerpoint/2010/main" val="319869348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6187" y="157880"/>
            <a:ext cx="10515600" cy="1325563"/>
          </a:xfrm>
        </p:spPr>
        <p:txBody>
          <a:bodyPr>
            <a:normAutofit/>
          </a:bodyPr>
          <a:lstStyle/>
          <a:p>
            <a:r>
              <a:rPr lang="en-US" sz="5400" b="1" u="sng" dirty="0" smtClean="0">
                <a:latin typeface="Algerian" panose="04020705040A02060702" pitchFamily="82" charset="0"/>
              </a:rPr>
              <a:t>Visual analysis discussion</a:t>
            </a:r>
            <a:endParaRPr lang="en-US" sz="5400" b="1" u="sng" dirty="0">
              <a:latin typeface="Algerian" panose="04020705040A02060702" pitchFamily="82" charset="0"/>
            </a:endParaRPr>
          </a:p>
        </p:txBody>
      </p:sp>
      <p:sp>
        <p:nvSpPr>
          <p:cNvPr id="3" name="Content Placeholder 2"/>
          <p:cNvSpPr>
            <a:spLocks noGrp="1"/>
          </p:cNvSpPr>
          <p:nvPr>
            <p:ph idx="1"/>
          </p:nvPr>
        </p:nvSpPr>
        <p:spPr>
          <a:xfrm>
            <a:off x="626533" y="1337733"/>
            <a:ext cx="10727267" cy="4839230"/>
          </a:xfrm>
        </p:spPr>
        <p:txBody>
          <a:bodyPr>
            <a:normAutofit/>
          </a:bodyPr>
          <a:lstStyle/>
          <a:p>
            <a:r>
              <a:rPr lang="en-US" sz="5400" dirty="0"/>
              <a:t>The </a:t>
            </a:r>
            <a:r>
              <a:rPr lang="en-US" sz="5400" dirty="0" smtClean="0"/>
              <a:t>visualization shows </a:t>
            </a:r>
            <a:r>
              <a:rPr lang="en-US" sz="5400" dirty="0"/>
              <a:t>that New York and San Francisco all have multiple pizza </a:t>
            </a:r>
            <a:r>
              <a:rPr lang="en-US" sz="5400" dirty="0" smtClean="0"/>
              <a:t>places.</a:t>
            </a:r>
          </a:p>
          <a:p>
            <a:endParaRPr lang="en-US" sz="5400" dirty="0" smtClean="0"/>
          </a:p>
        </p:txBody>
      </p:sp>
      <p:graphicFrame>
        <p:nvGraphicFramePr>
          <p:cNvPr id="4" name="Table 3"/>
          <p:cNvGraphicFramePr>
            <a:graphicFrameLocks noGrp="1"/>
          </p:cNvGraphicFramePr>
          <p:nvPr>
            <p:extLst>
              <p:ext uri="{D42A27DB-BD31-4B8C-83A1-F6EECF244321}">
                <p14:modId xmlns:p14="http://schemas.microsoft.com/office/powerpoint/2010/main" val="4270769795"/>
              </p:ext>
            </p:extLst>
          </p:nvPr>
        </p:nvGraphicFramePr>
        <p:xfrm>
          <a:off x="965200" y="3733799"/>
          <a:ext cx="10388600" cy="2650068"/>
        </p:xfrm>
        <a:graphic>
          <a:graphicData uri="http://schemas.openxmlformats.org/drawingml/2006/table">
            <a:tbl>
              <a:tblPr firstRow="1" bandRow="1">
                <a:tableStyleId>{7E9639D4-E3E2-4D34-9284-5A2195B3D0D7}</a:tableStyleId>
              </a:tblPr>
              <a:tblGrid>
                <a:gridCol w="5194300"/>
                <a:gridCol w="5194300"/>
              </a:tblGrid>
              <a:tr h="1066536">
                <a:tc>
                  <a:txBody>
                    <a:bodyPr/>
                    <a:lstStyle/>
                    <a:p>
                      <a:r>
                        <a:rPr lang="en-US" sz="3200" dirty="0" smtClean="0"/>
                        <a:t>City</a:t>
                      </a:r>
                      <a:endParaRPr lang="en-US" sz="3200" dirty="0"/>
                    </a:p>
                  </a:txBody>
                  <a:tcPr/>
                </a:tc>
                <a:tc>
                  <a:txBody>
                    <a:bodyPr/>
                    <a:lstStyle/>
                    <a:p>
                      <a:r>
                        <a:rPr lang="en-US" sz="3200" dirty="0" smtClean="0"/>
                        <a:t>Number of</a:t>
                      </a:r>
                      <a:r>
                        <a:rPr lang="en-US" sz="3200" baseline="0" dirty="0" smtClean="0"/>
                        <a:t> Pizza Places</a:t>
                      </a:r>
                      <a:endParaRPr lang="en-US" sz="3200" dirty="0"/>
                    </a:p>
                  </a:txBody>
                  <a:tcPr/>
                </a:tc>
              </a:tr>
              <a:tr h="791766">
                <a:tc>
                  <a:txBody>
                    <a:bodyPr/>
                    <a:lstStyle/>
                    <a:p>
                      <a:r>
                        <a:rPr lang="en-US" sz="3200" dirty="0" smtClean="0"/>
                        <a:t>New York</a:t>
                      </a:r>
                      <a:endParaRPr lang="en-US" sz="3200" dirty="0"/>
                    </a:p>
                  </a:txBody>
                  <a:tcPr/>
                </a:tc>
                <a:tc>
                  <a:txBody>
                    <a:bodyPr/>
                    <a:lstStyle/>
                    <a:p>
                      <a:r>
                        <a:rPr lang="en-US" sz="3200" dirty="0" smtClean="0"/>
                        <a:t>271</a:t>
                      </a:r>
                      <a:endParaRPr lang="en-US" sz="3200" dirty="0"/>
                    </a:p>
                  </a:txBody>
                  <a:tcPr/>
                </a:tc>
              </a:tr>
              <a:tr h="791766">
                <a:tc>
                  <a:txBody>
                    <a:bodyPr/>
                    <a:lstStyle/>
                    <a:p>
                      <a:r>
                        <a:rPr lang="en-US" sz="3200" dirty="0" smtClean="0"/>
                        <a:t>San Francisco</a:t>
                      </a:r>
                      <a:endParaRPr lang="en-US" sz="3200" dirty="0"/>
                    </a:p>
                  </a:txBody>
                  <a:tcPr/>
                </a:tc>
                <a:tc>
                  <a:txBody>
                    <a:bodyPr/>
                    <a:lstStyle/>
                    <a:p>
                      <a:r>
                        <a:rPr lang="en-US" sz="3200" dirty="0" smtClean="0"/>
                        <a:t>167</a:t>
                      </a:r>
                      <a:endParaRPr lang="en-US" sz="3200" dirty="0"/>
                    </a:p>
                  </a:txBody>
                  <a:tcPr/>
                </a:tc>
              </a:tr>
            </a:tbl>
          </a:graphicData>
        </a:graphic>
      </p:graphicFrame>
    </p:spTree>
    <p:extLst>
      <p:ext uri="{BB962C8B-B14F-4D97-AF65-F5344CB8AC3E}">
        <p14:creationId xmlns:p14="http://schemas.microsoft.com/office/powerpoint/2010/main" val="50275396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6187" y="157880"/>
            <a:ext cx="10515600" cy="1325563"/>
          </a:xfrm>
        </p:spPr>
        <p:txBody>
          <a:bodyPr>
            <a:normAutofit/>
          </a:bodyPr>
          <a:lstStyle/>
          <a:p>
            <a:r>
              <a:rPr lang="en-US" sz="5400" b="1" u="sng" dirty="0" smtClean="0">
                <a:latin typeface="Algerian" panose="04020705040A02060702" pitchFamily="82" charset="0"/>
              </a:rPr>
              <a:t>New York pizza places</a:t>
            </a:r>
            <a:endParaRPr lang="en-US" sz="5400" b="1" u="sng" dirty="0">
              <a:latin typeface="Algerian" panose="04020705040A02060702" pitchFamily="82"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35985" y="252032"/>
            <a:ext cx="1553391" cy="1163810"/>
          </a:xfrm>
          <a:prstGeom prst="rect">
            <a:avLst/>
          </a:prstGeom>
        </p:spPr>
      </p:pic>
      <p:pic>
        <p:nvPicPr>
          <p:cNvPr id="6" name="Content Placeholder 5"/>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403971" y="1283757"/>
            <a:ext cx="8720031" cy="5235575"/>
          </a:xfrm>
        </p:spPr>
      </p:pic>
    </p:spTree>
    <p:extLst>
      <p:ext uri="{BB962C8B-B14F-4D97-AF65-F5344CB8AC3E}">
        <p14:creationId xmlns:p14="http://schemas.microsoft.com/office/powerpoint/2010/main" val="368148614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6187" y="157880"/>
            <a:ext cx="10515600" cy="1325563"/>
          </a:xfrm>
        </p:spPr>
        <p:txBody>
          <a:bodyPr>
            <a:normAutofit/>
          </a:bodyPr>
          <a:lstStyle/>
          <a:p>
            <a:r>
              <a:rPr lang="en-US" sz="5400" b="1" u="sng" dirty="0" smtClean="0">
                <a:latin typeface="Algerian" panose="04020705040A02060702" pitchFamily="82" charset="0"/>
              </a:rPr>
              <a:t>San Francisco pizza places</a:t>
            </a:r>
            <a:endParaRPr lang="en-US" sz="5400" b="1" u="sng" dirty="0">
              <a:latin typeface="Algerian" panose="04020705040A02060702" pitchFamily="82" charset="0"/>
            </a:endParaRP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10524" y="1151466"/>
            <a:ext cx="9306925" cy="5554133"/>
          </a:xfrm>
        </p:spPr>
      </p:pic>
    </p:spTree>
    <p:extLst>
      <p:ext uri="{BB962C8B-B14F-4D97-AF65-F5344CB8AC3E}">
        <p14:creationId xmlns:p14="http://schemas.microsoft.com/office/powerpoint/2010/main" val="361896877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6187" y="157880"/>
            <a:ext cx="10515600" cy="1325563"/>
          </a:xfrm>
        </p:spPr>
        <p:txBody>
          <a:bodyPr>
            <a:noAutofit/>
          </a:bodyPr>
          <a:lstStyle/>
          <a:p>
            <a:pPr fontAlgn="base"/>
            <a:r>
              <a:rPr lang="en-US" sz="5400" b="1" u="sng" dirty="0" smtClean="0">
                <a:latin typeface="Algerian" panose="04020705040A02060702" pitchFamily="82" charset="0"/>
              </a:rPr>
              <a:t>results</a:t>
            </a:r>
            <a:endParaRPr lang="en-US" sz="5400" b="1" u="sng" dirty="0">
              <a:latin typeface="Algerian" panose="04020705040A02060702" pitchFamily="82" charset="0"/>
            </a:endParaRPr>
          </a:p>
        </p:txBody>
      </p:sp>
      <p:sp>
        <p:nvSpPr>
          <p:cNvPr id="3" name="Content Placeholder 2"/>
          <p:cNvSpPr>
            <a:spLocks noGrp="1"/>
          </p:cNvSpPr>
          <p:nvPr>
            <p:ph idx="1"/>
          </p:nvPr>
        </p:nvSpPr>
        <p:spPr>
          <a:xfrm>
            <a:off x="626533" y="1337733"/>
            <a:ext cx="10727267" cy="4839230"/>
          </a:xfrm>
        </p:spPr>
        <p:txBody>
          <a:bodyPr>
            <a:normAutofit/>
          </a:bodyPr>
          <a:lstStyle/>
          <a:p>
            <a:r>
              <a:rPr lang="en-US" sz="5400" dirty="0" smtClean="0"/>
              <a:t>On average New York’s top 100 Pizza places are 25% more dense than San Francisco </a:t>
            </a:r>
          </a:p>
          <a:p>
            <a:endParaRPr lang="en-US" sz="5400" dirty="0" smtClean="0"/>
          </a:p>
        </p:txBody>
      </p:sp>
      <p:graphicFrame>
        <p:nvGraphicFramePr>
          <p:cNvPr id="4" name="Table 3"/>
          <p:cNvGraphicFramePr>
            <a:graphicFrameLocks noGrp="1"/>
          </p:cNvGraphicFramePr>
          <p:nvPr>
            <p:extLst>
              <p:ext uri="{D42A27DB-BD31-4B8C-83A1-F6EECF244321}">
                <p14:modId xmlns:p14="http://schemas.microsoft.com/office/powerpoint/2010/main" val="1035993051"/>
              </p:ext>
            </p:extLst>
          </p:nvPr>
        </p:nvGraphicFramePr>
        <p:xfrm>
          <a:off x="965200" y="3733799"/>
          <a:ext cx="10388600" cy="2650068"/>
        </p:xfrm>
        <a:graphic>
          <a:graphicData uri="http://schemas.openxmlformats.org/drawingml/2006/table">
            <a:tbl>
              <a:tblPr firstRow="1" bandRow="1">
                <a:tableStyleId>{7E9639D4-E3E2-4D34-9284-5A2195B3D0D7}</a:tableStyleId>
              </a:tblPr>
              <a:tblGrid>
                <a:gridCol w="5194300"/>
                <a:gridCol w="5194300"/>
              </a:tblGrid>
              <a:tr h="1066536">
                <a:tc>
                  <a:txBody>
                    <a:bodyPr/>
                    <a:lstStyle/>
                    <a:p>
                      <a:r>
                        <a:rPr lang="en-US" sz="3200" dirty="0" smtClean="0"/>
                        <a:t>City</a:t>
                      </a:r>
                      <a:endParaRPr lang="en-US" sz="3200" dirty="0"/>
                    </a:p>
                  </a:txBody>
                  <a:tcPr/>
                </a:tc>
                <a:tc>
                  <a:txBody>
                    <a:bodyPr/>
                    <a:lstStyle/>
                    <a:p>
                      <a:r>
                        <a:rPr lang="en-US" sz="3200" dirty="0" smtClean="0"/>
                        <a:t>Mean Distance from </a:t>
                      </a:r>
                      <a:r>
                        <a:rPr lang="en-US" sz="3200" dirty="0" err="1" smtClean="0"/>
                        <a:t>centre</a:t>
                      </a:r>
                      <a:endParaRPr lang="en-US" sz="3200" dirty="0"/>
                    </a:p>
                  </a:txBody>
                  <a:tcPr/>
                </a:tc>
              </a:tr>
              <a:tr h="791766">
                <a:tc>
                  <a:txBody>
                    <a:bodyPr/>
                    <a:lstStyle/>
                    <a:p>
                      <a:r>
                        <a:rPr lang="en-US" sz="3200" dirty="0" smtClean="0"/>
                        <a:t>New York</a:t>
                      </a:r>
                      <a:endParaRPr lang="en-US" sz="3200" dirty="0"/>
                    </a:p>
                  </a:txBody>
                  <a:tcPr/>
                </a:tc>
                <a:tc>
                  <a:txBody>
                    <a:bodyPr/>
                    <a:lstStyle/>
                    <a:p>
                      <a:r>
                        <a:rPr lang="en-US" sz="3200" dirty="0" smtClean="0"/>
                        <a:t>0.02296898464975578</a:t>
                      </a:r>
                      <a:endParaRPr lang="en-US" sz="3200" dirty="0"/>
                    </a:p>
                  </a:txBody>
                  <a:tcPr/>
                </a:tc>
              </a:tr>
              <a:tr h="791766">
                <a:tc>
                  <a:txBody>
                    <a:bodyPr/>
                    <a:lstStyle/>
                    <a:p>
                      <a:r>
                        <a:rPr lang="en-US" sz="3200" dirty="0" smtClean="0"/>
                        <a:t>San Francisco</a:t>
                      </a:r>
                      <a:endParaRPr lang="en-US" sz="3200" dirty="0"/>
                    </a:p>
                  </a:txBody>
                  <a:tcPr/>
                </a:tc>
                <a:tc>
                  <a:txBody>
                    <a:bodyPr/>
                    <a:lstStyle/>
                    <a:p>
                      <a:r>
                        <a:rPr lang="en-US" sz="3200" dirty="0" smtClean="0"/>
                        <a:t>0.02880416941977326</a:t>
                      </a:r>
                      <a:endParaRPr lang="en-US" sz="3200" dirty="0"/>
                    </a:p>
                  </a:txBody>
                  <a:tcPr/>
                </a:tc>
              </a:tr>
            </a:tbl>
          </a:graphicData>
        </a:graphic>
      </p:graphicFrame>
    </p:spTree>
    <p:extLst>
      <p:ext uri="{BB962C8B-B14F-4D97-AF65-F5344CB8AC3E}">
        <p14:creationId xmlns:p14="http://schemas.microsoft.com/office/powerpoint/2010/main" val="113481772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6187" y="157880"/>
            <a:ext cx="10515600" cy="1325563"/>
          </a:xfrm>
        </p:spPr>
        <p:txBody>
          <a:bodyPr>
            <a:normAutofit/>
          </a:bodyPr>
          <a:lstStyle/>
          <a:p>
            <a:r>
              <a:rPr lang="en-US" sz="5400" b="1" u="sng" dirty="0" smtClean="0">
                <a:latin typeface="Algerian" panose="04020705040A02060702" pitchFamily="82" charset="0"/>
              </a:rPr>
              <a:t>discussion</a:t>
            </a:r>
            <a:endParaRPr lang="en-US" sz="5400" b="1" u="sng" dirty="0">
              <a:latin typeface="Algerian" panose="04020705040A02060702" pitchFamily="82" charset="0"/>
            </a:endParaRPr>
          </a:p>
        </p:txBody>
      </p:sp>
      <p:sp>
        <p:nvSpPr>
          <p:cNvPr id="3" name="Content Placeholder 2"/>
          <p:cNvSpPr>
            <a:spLocks noGrp="1"/>
          </p:cNvSpPr>
          <p:nvPr>
            <p:ph idx="1"/>
          </p:nvPr>
        </p:nvSpPr>
        <p:spPr>
          <a:xfrm>
            <a:off x="506187" y="1404257"/>
            <a:ext cx="11168742" cy="5241472"/>
          </a:xfrm>
        </p:spPr>
        <p:txBody>
          <a:bodyPr>
            <a:noAutofit/>
          </a:bodyPr>
          <a:lstStyle/>
          <a:p>
            <a:r>
              <a:rPr lang="en-US" sz="3200" dirty="0" smtClean="0"/>
              <a:t>It </a:t>
            </a:r>
            <a:r>
              <a:rPr lang="en-US" sz="3200" dirty="0"/>
              <a:t>has been established that New York has its Pizza places more densely located as compared to San Francisco. </a:t>
            </a:r>
            <a:endParaRPr lang="en-US" sz="3200" dirty="0" smtClean="0"/>
          </a:p>
          <a:p>
            <a:r>
              <a:rPr lang="en-US" sz="3200" dirty="0" smtClean="0"/>
              <a:t>It </a:t>
            </a:r>
            <a:r>
              <a:rPr lang="en-US" sz="3200" dirty="0"/>
              <a:t>can be </a:t>
            </a:r>
            <a:r>
              <a:rPr lang="en-US" sz="3200" dirty="0" smtClean="0"/>
              <a:t>therefore be </a:t>
            </a:r>
            <a:r>
              <a:rPr lang="en-US" sz="3200" smtClean="0"/>
              <a:t>concluded tthat </a:t>
            </a:r>
            <a:r>
              <a:rPr lang="en-US" sz="3200" dirty="0"/>
              <a:t>New York is ranked as the best option in this comparison. </a:t>
            </a:r>
          </a:p>
          <a:p>
            <a:endParaRPr lang="en-US" sz="3200" dirty="0" smtClean="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35985" y="252032"/>
            <a:ext cx="1553391" cy="1163810"/>
          </a:xfrm>
          <a:prstGeom prst="rect">
            <a:avLst/>
          </a:prstGeom>
        </p:spPr>
      </p:pic>
    </p:spTree>
    <p:extLst>
      <p:ext uri="{BB962C8B-B14F-4D97-AF65-F5344CB8AC3E}">
        <p14:creationId xmlns:p14="http://schemas.microsoft.com/office/powerpoint/2010/main" val="130581941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6187" y="157880"/>
            <a:ext cx="10515600" cy="1325563"/>
          </a:xfrm>
        </p:spPr>
        <p:txBody>
          <a:bodyPr>
            <a:normAutofit/>
          </a:bodyPr>
          <a:lstStyle/>
          <a:p>
            <a:r>
              <a:rPr lang="en-US" sz="5400" b="1" u="sng" dirty="0" smtClean="0">
                <a:latin typeface="Algerian" panose="04020705040A02060702" pitchFamily="82" charset="0"/>
              </a:rPr>
              <a:t>conclusion</a:t>
            </a:r>
            <a:endParaRPr lang="en-US" sz="5400" b="1" u="sng" dirty="0">
              <a:latin typeface="Algerian" panose="04020705040A02060702" pitchFamily="82" charset="0"/>
            </a:endParaRPr>
          </a:p>
        </p:txBody>
      </p:sp>
      <p:sp>
        <p:nvSpPr>
          <p:cNvPr id="3" name="Content Placeholder 2"/>
          <p:cNvSpPr>
            <a:spLocks noGrp="1"/>
          </p:cNvSpPr>
          <p:nvPr>
            <p:ph idx="1"/>
          </p:nvPr>
        </p:nvSpPr>
        <p:spPr>
          <a:xfrm>
            <a:off x="506187" y="1404257"/>
            <a:ext cx="11168742" cy="5241472"/>
          </a:xfrm>
        </p:spPr>
        <p:txBody>
          <a:bodyPr>
            <a:noAutofit/>
          </a:bodyPr>
          <a:lstStyle/>
          <a:p>
            <a:r>
              <a:rPr lang="en-US" sz="3200" dirty="0" smtClean="0"/>
              <a:t>An individual wishing to decide which city has pizza places close to each other can utilize these findings. </a:t>
            </a:r>
          </a:p>
          <a:p>
            <a:r>
              <a:rPr lang="en-US" sz="3200" dirty="0" smtClean="0"/>
              <a:t>For future considerations, the pizza places can be ranked so and other information like availability of parking lots, children entertainment and other information can be gathered to better narrow down on which place one can choose</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35985" y="252032"/>
            <a:ext cx="1553391" cy="1163810"/>
          </a:xfrm>
          <a:prstGeom prst="rect">
            <a:avLst/>
          </a:prstGeom>
        </p:spPr>
      </p:pic>
    </p:spTree>
    <p:extLst>
      <p:ext uri="{BB962C8B-B14F-4D97-AF65-F5344CB8AC3E}">
        <p14:creationId xmlns:p14="http://schemas.microsoft.com/office/powerpoint/2010/main" val="46296612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81</TotalTime>
  <Words>519</Words>
  <Application>Microsoft Office PowerPoint</Application>
  <PresentationFormat>Widescreen</PresentationFormat>
  <Paragraphs>44</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Algerian</vt:lpstr>
      <vt:lpstr>Arial</vt:lpstr>
      <vt:lpstr>Calibri</vt:lpstr>
      <vt:lpstr>Calibri Light</vt:lpstr>
      <vt:lpstr>Wingdings</vt:lpstr>
      <vt:lpstr>Office Theme</vt:lpstr>
      <vt:lpstr>PIZZA IN NEW YORK OR SAN FRANCISCO? </vt:lpstr>
      <vt:lpstr>Introduction</vt:lpstr>
      <vt:lpstr>Data section</vt:lpstr>
      <vt:lpstr>Methodology</vt:lpstr>
      <vt:lpstr>New York pizza places</vt:lpstr>
      <vt:lpstr>San Francisco pizza places</vt:lpstr>
      <vt:lpstr>Visual analysis discussion</vt:lpstr>
      <vt:lpstr>New York pizza places</vt:lpstr>
      <vt:lpstr>San Francisco pizza places</vt:lpstr>
      <vt:lpstr>results</vt:lpstr>
      <vt:lpstr>discussion</vt:lpstr>
      <vt:lpstr>conclusion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PIZZA IN NEW YORK OR SAN FRANCISCO?</dc:title>
  <dc:creator>Mwanza Henry</dc:creator>
  <cp:lastModifiedBy>Mwanza Henry</cp:lastModifiedBy>
  <cp:revision>8</cp:revision>
  <dcterms:created xsi:type="dcterms:W3CDTF">2020-07-07T14:39:05Z</dcterms:created>
  <dcterms:modified xsi:type="dcterms:W3CDTF">2020-07-07T16:00:14Z</dcterms:modified>
</cp:coreProperties>
</file>